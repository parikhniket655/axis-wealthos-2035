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54864" cy="685800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18288" cy="685800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01583" y="0"/>
            <a:ext cx="4059936" cy="6858000"/>
          </a:xfrm>
          <a:prstGeom prst="rect">
            <a:avLst/>
          </a:prstGeom>
          <a:solidFill>
            <a:srgbClr val="500F1E"/>
          </a:solidFill>
          <a:ln>
            <a:solidFill>
              <a:srgbClr val="50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C9A84C"/>
                </a:solidFill>
                <a:latin typeface="Calibri"/>
              </a:defRPr>
            </a:pPr>
            <a:r>
              <a:t>AXIS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223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Cambria"/>
              </a:defRPr>
            </a:pPr>
            <a:r>
              <a:t>AXIS WEALTHOS 2035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 i="0">
                <a:solidFill>
                  <a:srgbClr val="E8E0D5"/>
                </a:solidFill>
                <a:latin typeface="Calibri"/>
              </a:defRPr>
            </a:pPr>
            <a:r>
              <a:t>From Relationship-Led Wealth Servicing</a:t>
            </a:r>
          </a:p>
          <a:p>
            <a:pPr algn="l">
              <a:defRPr sz="1700" b="0" i="0">
                <a:solidFill>
                  <a:srgbClr val="E8E0D5"/>
                </a:solidFill>
                <a:latin typeface="Calibri"/>
              </a:defRPr>
            </a:pPr>
            <a:r>
              <a:t>to an AI-Native Household Wealth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2286000" cy="45720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1">
                <a:solidFill>
                  <a:srgbClr val="E8E0D5"/>
                </a:solidFill>
                <a:latin typeface="Calibri"/>
              </a:defRPr>
            </a:pPr>
            <a:r>
              <a:t>MOVES 2026  ·  Organization of the Future: Design for 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Team CashCows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83464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9077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₹7.54T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6499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Burgundy AUM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02336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09651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17,400+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55371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Burgundy Private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5212080"/>
            <a:ext cx="3200400" cy="1005840"/>
          </a:xfrm>
          <a:prstGeom prst="rect">
            <a:avLst/>
          </a:prstGeom>
          <a:solidFill>
            <a:srgbClr val="6B1D2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2852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200" b="1" i="0">
                <a:solidFill>
                  <a:srgbClr val="C9A84C"/>
                </a:solidFill>
                <a:latin typeface="Cambria"/>
              </a:defRPr>
            </a:pPr>
            <a:r>
              <a:t>1,700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74243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Virtual RMs</a:t>
            </a:r>
          </a:p>
          <a:p>
            <a:pPr algn="ct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Deployed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4980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 i="0">
                <a:solidFill>
                  <a:srgbClr val="9E8C84"/>
                </a:solidFill>
                <a:latin typeface="Calibri"/>
              </a:defRPr>
            </a:pPr>
            <a:r>
              <a:t>CONFIDENTIAL  ·  BOARD-LEVEL STRATEGY BRIEF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6F1"/>
          </a:solidFill>
          <a:ln>
            <a:solidFill>
              <a:srgbClr val="F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SLIDE 1  ·  THE BIG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AXIS WEALTHOS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 i="0">
                <a:solidFill>
                  <a:srgbClr val="6B1D2E"/>
                </a:solidFill>
                <a:latin typeface="Cambria"/>
              </a:defRPr>
            </a:pPr>
            <a:r>
              <a:t>Reinventing Wealth Management into an AI-Native Household Wealth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11430000" cy="36576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3566160" cy="96012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THE STRUCTURAL</a:t>
            </a:r>
          </a:p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572768"/>
            <a:ext cx="3566160" cy="96012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THE CORE BET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The Transformation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572768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572768"/>
            <a:ext cx="3566160" cy="960120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459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WHY AXIS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6712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1">
                <a:solidFill>
                  <a:srgbClr val="FFFFFF"/>
                </a:solidFill>
                <a:latin typeface="Calibri"/>
              </a:defRPr>
            </a:pPr>
            <a:r>
              <a:t>Strategic Anchors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97479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Scale Impossibility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07791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India's affluent class will hit 100M by 2027 (Goldman Sachs). 50%+ of new wealth creators are in Tier 2/3/4 cities. Human-only RM model cannot scale profitably outside metros.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93591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39311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RM Productivity Ceiling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9624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Each RM handles 80-120 clients with manual portfolio reviews. 70% of RM time spent on prep, compliance &amp; paperwork — not client relationships.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35424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81144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Fragmented Client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91456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Axis sees only its own AUM. Client's full balance sheet — external MFs, insurance, property — is invisible. Product-pushing replaces holistic advisory.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77256"/>
            <a:ext cx="3291840" cy="868680"/>
          </a:xfrm>
          <a:prstGeom prst="rect">
            <a:avLst/>
          </a:prstGeom>
          <a:solidFill>
            <a:srgbClr val="FDF0F0"/>
          </a:solidFill>
          <a:ln w="12700">
            <a:solidFill>
              <a:srgbClr val="E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22976"/>
            <a:ext cx="31546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Cost-to-Serve Crisis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33288"/>
            <a:ext cx="3154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High-touch RM model is economically unsustainable at scale. Relentlessly expanding headcount creates service fragmentation, not depth.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624328"/>
            <a:ext cx="3291840" cy="41148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670048"/>
            <a:ext cx="31546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 i="1">
                <a:solidFill>
                  <a:srgbClr val="FFFFFF"/>
                </a:solidFill>
                <a:latin typeface="Calibri"/>
              </a:defRPr>
            </a:pPr>
            <a:r>
              <a:t>AXIS WEALTHOS: Stop managing accounts. Start orchestrating financial lives.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127248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127248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172968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337560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Wealth Twin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529584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Encrypted real-time financial graph — internal bank data + external consented holdings via Account Aggregator (AA) APIs. Maps full household balance sheet across generations.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206240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4206240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4251959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4416552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AI Advice Factory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60857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Autonomous multi-agent backend continuously scanning the Wealth Twin. Flags portfolio drift, tax-harvesting windows, ALM mismatches, concentrated stock risk, and succession triggers — in real time.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5285231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5285231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330951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495544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Pod-Based Advisory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687568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Replaces isolated RM model. Each client served by a Lead Relationship Partner + Portfolio Architect + Credit Specialist. Pods operate on AI-generated briefing dossiers — prep in minutes, not hours.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6364224"/>
            <a:ext cx="3291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97680" y="6364224"/>
            <a:ext cx="54864" cy="10058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6409944"/>
            <a:ext cx="31546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34495E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6574536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ambria"/>
              </a:defRPr>
            </a:pPr>
            <a:r>
              <a:t>One Axis Orchestration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6766560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WealthOS routes seamlessly to Axis Securities, AMC, Capital, Finance &amp; Trustee. A client liquidity event triggers coordinated action across all entities — not siloed product conversations.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2624328"/>
            <a:ext cx="3291840" cy="1005840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267004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mbria"/>
              </a:defRPr>
            </a:pPr>
            <a:r>
              <a:t>₹7.54T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32186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Burgundy AUM  ·  20% YoY Growth  ·  Q1 FY27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38160" y="37216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38160" y="37216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37673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Citibank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39684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₹1.11T wealth AUM added. Premium talent pool + disciplined UHNI base instantly elevates Axis's premiumization strategy.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46360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46360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20" y="46817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Virtual RM Infrastructure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8828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1,700 virtual RMs serving 4.2M clients/month. Proves Axis already has the digital service backbone to scale automated advisory.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5504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55504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75320" y="55961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One Axis Multi-Entity Edge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57972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Securities + AMC + Capital + Finance + Trustee. No standalone wealth boutique or competitor can replicate this integrated group capability.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6464808"/>
            <a:ext cx="3291840" cy="850392"/>
          </a:xfrm>
          <a:prstGeom prst="rect">
            <a:avLst/>
          </a:prstGeom>
          <a:solidFill>
            <a:srgbClr val="EFF8F4"/>
          </a:solidFill>
          <a:ln w="12700">
            <a:solidFill>
              <a:srgbClr val="B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38160" y="6464808"/>
            <a:ext cx="54864" cy="85039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75320" y="6510528"/>
            <a:ext cx="3154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2E7D5E"/>
                </a:solidFill>
                <a:latin typeface="Calibri"/>
              </a:defRPr>
            </a:pPr>
            <a:r>
              <a:t>AA Regulatory Tailwind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6711696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RBI's Account Aggregator framework provides legal, real-time consent-based data rails. Axis can legally view a client's FULL balance sheet — including competitor holdings.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473952"/>
            <a:ext cx="11521440" cy="292608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483096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1">
                <a:solidFill>
                  <a:srgbClr val="C9A84C"/>
                </a:solidFill>
                <a:latin typeface="Calibri"/>
              </a:defRPr>
            </a:pPr>
            <a:r>
              <a:t>"Burgundy is already a market leader. But to capture the next wave of India's wealth, we must multiply advisor capability — not headcount. WealthOS is that future."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6F1"/>
          </a:solidFill>
          <a:ln>
            <a:solidFill>
              <a:srgbClr val="FA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C9A84C"/>
                </a:solidFill>
                <a:latin typeface="Calibri"/>
              </a:defRPr>
            </a:pPr>
            <a:r>
              <a:t>SLIDE 2  ·  HOW IT WORKS &amp; STRATEGIC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 i="0">
                <a:solidFill>
                  <a:srgbClr val="E8E0D5"/>
                </a:solidFill>
                <a:latin typeface="Calibri"/>
              </a:defRPr>
            </a:pPr>
            <a:r>
              <a:t>AXIS WEALTHOS 2035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 i="0">
                <a:solidFill>
                  <a:srgbClr val="6B1D2E"/>
                </a:solidFill>
                <a:latin typeface="Cambria"/>
              </a:defRPr>
            </a:pPr>
            <a:r>
              <a:t>Advisory Pods · Multi-Entity Integration · Business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36576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6126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THE WEALTHOS OPERATING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421892" cy="43891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Client Financial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Internal: Axis deposits, credit, card spends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External (AA APIs): MFs, equities, insurance,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liabilities, property, business cash 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4193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5166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51660" y="1719072"/>
            <a:ext cx="1421892" cy="43891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481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481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AI Advice Factory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481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Continuous event detection: drift, tax-harvest,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ALM mismatch, succession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481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Risk suitability audit + explainability log</a:t>
            </a:r>
          </a:p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before any recommendation surfaces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1719072"/>
            <a:ext cx="1421892" cy="43891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Advisory Pod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Lead RM (trust + goal discovery)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Portfolio Architect (asset allocation)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341985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Credit Specialist (leverage + liquidity)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5172" y="2848356"/>
            <a:ext cx="109728" cy="73152"/>
          </a:xfrm>
          <a:prstGeom prst="rect">
            <a:avLst/>
          </a:prstGeom>
          <a:solidFill>
            <a:srgbClr val="C9A84C"/>
          </a:solidFill>
          <a:ln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14900" y="1719072"/>
            <a:ext cx="14218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14900" y="1719072"/>
            <a:ext cx="1421892" cy="43891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8052" y="1755648"/>
            <a:ext cx="13304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8052" y="1920240"/>
            <a:ext cx="13304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mbria"/>
              </a:defRPr>
            </a:pPr>
            <a:r>
              <a:t>One Axis Ecosystem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8052" y="223113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Axis Securities  ·  Axis AMC  ·  Axis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8052" y="282549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Axis Finance  ·  Axis Trustee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8052" y="3419856"/>
            <a:ext cx="13121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▸  Seamless group routing — single client 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78808"/>
            <a:ext cx="6126480" cy="237744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06240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C9A84C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480560"/>
            <a:ext cx="1950720" cy="34747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1  ·  Yr 1–2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Foundation &amp; HNI Pilot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Wealth Twin data layer build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AA API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79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500 RM pilot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Advisory productivity lift proof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6220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62200" y="4480560"/>
            <a:ext cx="1950720" cy="34747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3535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2  ·  Yr 3–5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3535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Affluent Scale-Up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3640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Expand to full Burgundy segment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53640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Family Banking 2.0 launch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3640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Pod-based coverage rollout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3640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GST + business cash flow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4360" y="4480560"/>
            <a:ext cx="195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04360" y="4480560"/>
            <a:ext cx="1950720" cy="347472"/>
          </a:xfrm>
          <a:prstGeom prst="rect">
            <a:avLst/>
          </a:prstGeom>
          <a:solidFill>
            <a:srgbClr val="2E7D5E"/>
          </a:solidFill>
          <a:ln>
            <a:solidFill>
              <a:srgbClr val="2E7D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77512" y="4517136"/>
            <a:ext cx="184099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PHASE 3  ·  Yr 6–10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7512" y="4846320"/>
            <a:ext cx="1840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ambria"/>
              </a:defRPr>
            </a:pPr>
            <a:r>
              <a:t>One Axis Integration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95799" y="5138928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Full entity routing activated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95799" y="5541264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Open API ecosystem partners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5799" y="594360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Cross-border &amp; AIF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5799" y="6345936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•  100% data-native household advisory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1371600"/>
            <a:ext cx="5257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6B1D2E"/>
                </a:solidFill>
                <a:latin typeface="Calibri"/>
              </a:defRPr>
            </a:pPr>
            <a:r>
              <a:t>FINANCIAL &amp; FEASIBILITY SCORECARD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1664208"/>
            <a:ext cx="5257800" cy="274320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56832" y="17099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INDICATOR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1352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FY27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8632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25911" y="1709928"/>
            <a:ext cx="1051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C9A84C"/>
                </a:solidFill>
                <a:latin typeface="Calibri"/>
              </a:defRPr>
            </a:pPr>
            <a:r>
              <a:t>2035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1938528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56832" y="200253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Burgundy AUM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31352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₹7.54T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28632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₹11.50T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25911" y="20025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₹16.50T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2276856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6832" y="234086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Burgundy Private AUM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31352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₹2.68T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28632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₹4.50T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25911" y="234086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₹7.00T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2615184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56832" y="26791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UHNWI Families Served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31352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17,400+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28632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30,000+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25911" y="267919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55,000+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2953512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56832" y="30175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RM Productivity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31352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1.0x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28632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1.3x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25911" y="301752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1.6x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3291840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56832" y="335584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Wallet Share (Affluent)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31352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~18%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28632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25911" y="3355848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0" y="3630168"/>
            <a:ext cx="52578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56832" y="36941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Cost-to-Serve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1352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28632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–35%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25911" y="369417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–85%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83680" y="3968496"/>
            <a:ext cx="5257800" cy="3383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56832" y="40325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 i="0">
                <a:solidFill>
                  <a:srgbClr val="5A4A42"/>
                </a:solidFill>
                <a:latin typeface="Calibri"/>
              </a:defRPr>
            </a:pPr>
            <a:r>
              <a:t>Advisory Turnaround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31352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Calibri"/>
              </a:defRPr>
            </a:pPr>
            <a:r>
              <a:t>T+2 days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28632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T+4 hrs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25911" y="403250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2E7D5E"/>
                </a:solidFill>
                <a:latin typeface="Calibri"/>
              </a:defRPr>
            </a:pPr>
            <a:r>
              <a:t>&lt;5 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4443984"/>
            <a:ext cx="5257800" cy="256032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75120" y="4489704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FEASIBILITY ASSESSMENT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025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2025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9/10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025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Strategic Fit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71815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71815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9/10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71815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Market Demand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2337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2337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8/10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2337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Tech &amp; Data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7493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7493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7/10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7493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826496" y="4718304"/>
            <a:ext cx="97840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826496" y="4773168"/>
            <a:ext cx="978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 i="0">
                <a:solidFill>
                  <a:srgbClr val="6B1D2E"/>
                </a:solidFill>
                <a:latin typeface="Cambria"/>
              </a:defRPr>
            </a:pPr>
            <a:r>
              <a:t>8/10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26496" y="5065776"/>
            <a:ext cx="9784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750" b="0" i="0">
                <a:solidFill>
                  <a:srgbClr val="5A4A42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583680" y="5449824"/>
            <a:ext cx="5257800" cy="256032"/>
          </a:xfrm>
          <a:prstGeom prst="rect">
            <a:avLst/>
          </a:prstGeom>
          <a:solidFill>
            <a:srgbClr val="8B2035"/>
          </a:solidFill>
          <a:ln>
            <a:solidFill>
              <a:srgbClr val="8B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5495544"/>
            <a:ext cx="5120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KEY RISK MITIGATIONS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83680" y="5742432"/>
            <a:ext cx="5257800" cy="457200"/>
          </a:xfrm>
          <a:prstGeom prst="rect">
            <a:avLst/>
          </a:prstGeom>
          <a:solidFill>
            <a:srgbClr val="FDF0F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75120" y="5779008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RM Resistance: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46720" y="583387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AI as co-pilot: automates prep &amp; compliance; RMs own 100% relationship time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83680" y="6217920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625449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Data Privacy: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6720" y="63093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Granular client-revocable consent; zero-knowledge proofs; live data dashboards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83680" y="6693408"/>
            <a:ext cx="5257800" cy="457200"/>
          </a:xfrm>
          <a:prstGeom prst="rect">
            <a:avLst/>
          </a:prstGeom>
          <a:solidFill>
            <a:srgbClr val="FDF0F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75120" y="6729984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Model Bias / Hallucination: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46720" y="67848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Human-in-the-loop: Portfolio Architect validates every AI proposal before client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0" y="7168896"/>
            <a:ext cx="5257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675120" y="7205472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 i="0">
                <a:solidFill>
                  <a:srgbClr val="6B1D2E"/>
                </a:solidFill>
                <a:latin typeface="Calibri"/>
              </a:defRPr>
            </a:pPr>
            <a:r>
              <a:t>⚠ One Axis Friction: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46720" y="726033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0">
                <a:solidFill>
                  <a:srgbClr val="5A4A42"/>
                </a:solidFill>
                <a:latin typeface="Calibri"/>
              </a:defRPr>
            </a:pPr>
            <a:r>
              <a:t>Unified Group Wallet Share scorecard; shared commissions across all entities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6556248"/>
            <a:ext cx="12161520" cy="301752"/>
          </a:xfrm>
          <a:prstGeom prst="rect">
            <a:avLst/>
          </a:prstGeom>
          <a:solidFill>
            <a:srgbClr val="6B1D2E"/>
          </a:solidFill>
          <a:ln>
            <a:solidFill>
              <a:srgbClr val="6B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1">
                <a:solidFill>
                  <a:srgbClr val="C9A84C"/>
                </a:solidFill>
                <a:latin typeface="Calibri"/>
              </a:defRPr>
            </a:pPr>
            <a:r>
              <a:t>"WealthOS is not an app or a chatbot. It is a fundamental operational rewiring — turning Axis's multi-entity capabilities into one cohesive client experience."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